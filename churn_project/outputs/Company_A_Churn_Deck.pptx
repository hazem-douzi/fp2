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64008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Reducing Customer Churn at Company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A profit-driven, calibrated, and fair churn model — </a:t>
            </a:r>
            <a:r>
              <a:rPr sz="2000" b="1">
                <a:solidFill>
                  <a:srgbClr val="9FD8D6"/>
                </a:solidFill>
                <a:latin typeface="Calibri"/>
              </a:rPr>
              <a:t>predict, prioritize, and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B9C4D4"/>
                </a:solidFill>
                <a:latin typeface="Calibri"/>
              </a:rPr>
              <a:t>Telecom Retention Analytics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9C4D4"/>
                </a:solidFill>
                <a:latin typeface="Calibri"/>
              </a:rPr>
              <a:t>100,000 customers  |  123 engineered behavioral features  |  demographics excluded by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The bottom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66160" cy="23774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566160" cy="109728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REALISTIC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141B2E"/>
                </a:solidFill>
                <a:latin typeface="Calibri"/>
              </a:rPr>
              <a:t>AUC 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Tuned + calibrated XGBoost. No leakage, no 0.99 fantasy.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920240"/>
            <a:ext cx="3566160" cy="23774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20240"/>
            <a:ext cx="3566160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488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TARGETING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141B2E"/>
                </a:solidFill>
                <a:latin typeface="Calibri"/>
              </a:rPr>
              <a:t>1.34x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4290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vs. random outreach, ranking by expected value at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920240"/>
            <a:ext cx="3566160" cy="23774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920240"/>
            <a:ext cx="3566160" cy="10972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1488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C97A1E"/>
                </a:solidFill>
                <a:latin typeface="Calibri"/>
              </a:rPr>
              <a:t>BASE-CASE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5146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141B2E"/>
                </a:solidFill>
                <a:latin typeface="Calibri"/>
              </a:rPr>
              <a:t>2.4x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4290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Net $189,190 at the profit-optimal 42% contact depth.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What changed from a naive first pass:  </a:t>
            </a:r>
            <a:r>
              <a:rPr sz="1400" b="0">
                <a:solidFill>
                  <a:srgbClr val="5B6677"/>
                </a:solidFill>
                <a:latin typeface="Calibri"/>
              </a:rPr>
              <a:t>protected attributes removed, probabilities calibrated, scores re-weighted to the true ~2% churn rate, the decision threshold set on a profit curve, drivers explained with SHAP, and the business case shown as bear / base / bull with cited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Churn is expensive — but not every customer is worth the same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The task.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Predict which subscribers will churn, explain why, and turn that into a retention plan that makes money.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The data.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100,000 customers, 100 raw columns across account, usage, and demographic tables.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C97A1E"/>
                </a:solidFill>
                <a:latin typeface="Calibri"/>
              </a:rPr>
              <a:t>The honesty problem.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The sample is balanced to ~50% churn for training, but real monthly churn is ~2%. We train on the sample, then re-weight predictions back to reality so the dollars are credible.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212080" cy="3931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574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KEY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ARPU (avg monthly revenue)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56032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$59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6382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Median tenure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16382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16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6732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Model features (engineered)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76732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708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Protected attributes dropped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437083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97433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Assumed true monthly 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4974336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RESPONSIBLE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We deliberately excluded demographics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B6677"/>
                </a:solidFill>
                <a:latin typeface="Calibri"/>
              </a:rPr>
              <a:t>Targeting retention by ethnicity, income, marital status, or dwelling is a legal and ethical hazard — and it isn't actionable. </a:t>
            </a:r>
            <a:r>
              <a:rPr sz="1500" b="1">
                <a:solidFill>
                  <a:srgbClr val="141B2E"/>
                </a:solidFill>
                <a:latin typeface="Calibri"/>
              </a:rPr>
              <a:t>All 20 such attributes are dropped before the model sees the data, with an automated guard that fails the build if one leaks through encoding.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269748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2377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B13A3A"/>
                </a:solidFill>
                <a:latin typeface="Calibri"/>
              </a:rPr>
              <a:t>EXCLUDED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ethnic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crclscod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kid11_15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dwlltype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infobase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3200400"/>
            <a:ext cx="269748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383280"/>
            <a:ext cx="2377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B13A3A"/>
                </a:solidFill>
                <a:latin typeface="Calibri"/>
              </a:rPr>
              <a:t>EXCLUDED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marital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kid0_2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kid16_17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dwllsize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numbcars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9748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383280"/>
            <a:ext cx="2377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B13A3A"/>
                </a:solidFill>
                <a:latin typeface="Calibri"/>
              </a:rPr>
              <a:t>EXCLUDED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income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kid3_5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adults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lor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truck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3200400"/>
            <a:ext cx="269748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383280"/>
            <a:ext cx="2377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B13A3A"/>
                </a:solidFill>
                <a:latin typeface="Calibri"/>
              </a:rPr>
              <a:t>EXCLUDED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creditcd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kid6_10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ownrent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HHstatin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• rv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One reproducible pipeline,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7498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 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874520"/>
            <a:ext cx="8503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Merge usage + account tables; build behavioral features (equipment age, usage trend, care intensity, overage share).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2286000" cy="7498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720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 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43200"/>
            <a:ext cx="8503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Compare Logistic Regression, Random Forest, XGBoost; tune XGBoost with randomized search + 5-fold CV.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2286000" cy="7498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7588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  Calibrate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611880"/>
            <a:ext cx="8503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Isotonic calibration so scores are real probabilities; re-weight to the true 2% base 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2286000" cy="7498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4456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  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480560"/>
            <a:ext cx="8503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Rank by expected value at risk; choose contact depth on the profit curve, not an arbitrary 0.5 cutoff.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03520"/>
            <a:ext cx="2286000" cy="7498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13248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  Explain &amp;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5349240"/>
            <a:ext cx="85039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SHAP drivers, K-means personas, and an uplift/persuadables view feed a bear/base/bull business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XGBoost wins — at a believable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766560" cy="3994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92024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Why this is credible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AUC 0.70, PR-AUC 0.69. </a:t>
            </a:r>
            <a:r>
              <a:rPr sz="1400" b="0">
                <a:solidFill>
                  <a:srgbClr val="5B6677"/>
                </a:solidFill>
                <a:latin typeface="Calibri"/>
              </a:rPr>
              <a:t>An AUC near 0.70 is normal for telecom churn on behavioral data — a 0.95+ score would signal target leakage.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5-fold CV: 0.699 ± 0.003. </a:t>
            </a:r>
            <a:r>
              <a:rPr sz="1400" b="0">
                <a:solidFill>
                  <a:srgbClr val="5B6677"/>
                </a:solidFill>
                <a:latin typeface="Calibri"/>
              </a:rPr>
              <a:t>Tiny variance across folds means the model is stable, not lucky.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Brier score improves after calibration — the probabilities can be trusted for dollar math.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TRUSTWORTHY PROBABILITIES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Calibration + the base-rate correction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400800" cy="5552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920240"/>
            <a:ext cx="4389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A score is not a probability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Raw model scores cluster near 0.5 because the training sample is balanced. Isotonic calibration aligns predicted probability with observed frequency (the diagonal).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C97A1E"/>
                </a:solidFill>
                <a:latin typeface="Calibri"/>
              </a:rPr>
              <a:t>Then we correct the prior: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mean P(churn) 0.50 in the sample  →  0.027 re-weighted to the real ~2% rate.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Without this step, every revenue-at-risk and ROI figure would be inflated by ~20x.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WHY CUSTOMERS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SHAP — the model's honest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766560" cy="49217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92024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All actionable, none demographic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28A86"/>
                </a:solidFill>
                <a:latin typeface="Calibri"/>
              </a:rPr>
              <a:t>Equipment age (eqpdays)</a:t>
            </a:r>
            <a:r>
              <a:rPr sz="1400" b="0">
                <a:solidFill>
                  <a:srgbClr val="5B6677"/>
                </a:solidFill>
                <a:latin typeface="Calibri"/>
              </a:rPr>
              <a:t> — the top driver. Old handsets churn; proactive upgrade offers are the lever.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28A86"/>
                </a:solidFill>
                <a:latin typeface="Calibri"/>
              </a:rPr>
              <a:t>Tenure &amp; usage trend</a:t>
            </a:r>
            <a:r>
              <a:rPr sz="1400" b="0">
                <a:solidFill>
                  <a:srgbClr val="5B6677"/>
                </a:solidFill>
                <a:latin typeface="Calibri"/>
              </a:rPr>
              <a:t> — declining minutes-of-use flags disengagement early.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28A86"/>
                </a:solidFill>
                <a:latin typeface="Calibri"/>
              </a:rPr>
              <a:t>Care intensity &amp; dropped calls</a:t>
            </a:r>
            <a:r>
              <a:rPr sz="1400" b="0">
                <a:solidFill>
                  <a:srgbClr val="5B6677"/>
                </a:solidFill>
                <a:latin typeface="Calibri"/>
              </a:rPr>
              <a:t> — service quality and support friction. Fixable operationally.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Because demographics were excluded, every top driver maps to an action the business can actually take.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HONEST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Churn rises with equipment 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ndse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766560" cy="4266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92024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Binned, not over-precise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Equipment age is grouped into interpretable buckets rather than implying false day-level precision.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The pattern is monotonic and clean: the longer a customer keeps an aging device, the more likely they leave.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C97A1E"/>
                </a:solidFill>
                <a:latin typeface="Calibri"/>
              </a:rPr>
              <a:t>Action: </a:t>
            </a:r>
            <a:r>
              <a:rPr sz="1400" b="0">
                <a:solidFill>
                  <a:srgbClr val="5B6677"/>
                </a:solidFill>
                <a:latin typeface="Calibri"/>
              </a:rPr>
              <a:t>trigger an upgrade offer as devices cross the high-risk age band.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PRIORITIZE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Call the highest-value risk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ptur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766560" cy="45888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92024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Expected value at risk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We rank by </a:t>
            </a:r>
            <a:r>
              <a:rPr sz="1400" b="1">
                <a:solidFill>
                  <a:srgbClr val="141B2E"/>
                </a:solidFill>
                <a:latin typeface="Calibri"/>
              </a:rPr>
              <a:t>P(churn) × margin × lifetime value</a:t>
            </a:r>
            <a:r>
              <a:rPr sz="1400" b="0">
                <a:solidFill>
                  <a:srgbClr val="5B6677"/>
                </a:solidFill>
                <a:latin typeface="Calibri"/>
              </a:rPr>
              <a:t>, not probability alone — a $100 customer at 30% risk beats a $20 customer at 60%.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28A86"/>
                </a:solidFill>
                <a:latin typeface="Calibri"/>
              </a:rPr>
              <a:t>Contacting the top 20% by value captures 27% of churn value — 1.34x better than random.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OPTIMIZE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How deep to go — the profit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fi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766560" cy="45888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92024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Maximize profit, not recall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Calling everyone wastes incentives; calling too few leaves value on the table. We sweep contact depth and pick the peak.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C97A1E"/>
                </a:solidFill>
                <a:latin typeface="Calibri"/>
              </a:rPr>
              <a:t>Optimal depth: 42%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Net profit $189,190  •  ROI 2.4x  •  ~351 customers saved (base case).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WHO THEY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Four behavioral personas (K-means)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583680" cy="40359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920240"/>
            <a:ext cx="4206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Behavioral, not demographic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Clusters are built only from behavior — usage trend, equipment age, care intensity, overage, tenure.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B13A3A"/>
                </a:solidFill>
                <a:latin typeface="Calibri"/>
              </a:rPr>
              <a:t>High-risk segment</a:t>
            </a:r>
            <a:r>
              <a:rPr sz="1400" b="0">
                <a:solidFill>
                  <a:srgbClr val="5B6677"/>
                </a:solidFill>
                <a:latin typeface="Calibri"/>
              </a:rPr>
              <a:t>: churn rate 84%, high care-call intensity and aging equipment — the clearest save target.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6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A separate high-ARPU segment justifies premium, concierge-style retention offers.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PERSUADABLES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Treat customers a campaign can actually move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p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583680" cy="38540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874519"/>
            <a:ext cx="42062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Beyond risk: responsiveness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B6677"/>
                </a:solidFill>
                <a:latin typeface="Calibri"/>
              </a:rPr>
              <a:t>Some high-risk customers leave regardless; the money is in </a:t>
            </a:r>
            <a:r>
              <a:rPr sz="1400" b="1">
                <a:solidFill>
                  <a:srgbClr val="128A86"/>
                </a:solidFill>
                <a:latin typeface="Calibri"/>
              </a:rPr>
              <a:t>persuadables</a:t>
            </a:r>
            <a:r>
              <a:rPr sz="1400" b="0">
                <a:solidFill>
                  <a:srgbClr val="5B6677"/>
                </a:solidFill>
                <a:latin typeface="Calibri"/>
              </a:rPr>
              <a:t> — those whose retention an offer actually changes (T-learner uplift).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C97A1E"/>
                </a:solidFill>
                <a:latin typeface="Calibri"/>
              </a:rPr>
              <a:t>Honesty note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This data is observational (no test/control), so the response here is a clearly-labeled simulation to demonstrate the method.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00" b="0">
                <a:solidFill>
                  <a:srgbClr val="5B6677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Next step: a live A/B holdout to measure real uplift before scaling.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28A86"/>
                </a:solidFill>
                <a:latin typeface="Calibri"/>
              </a:rPr>
              <a:t>THE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141B2E"/>
                </a:solidFill>
                <a:latin typeface="Calibri"/>
              </a:rPr>
              <a:t>Bear / base / bull — profit-positive in the base &amp; bull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005840" cy="4114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17920" cy="4092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828800"/>
            <a:ext cx="4572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Assumptions are cited, not invented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Each scenario varies save rate, offer cost, margin, and CLV horizon — all sourced in REFERENCES.md.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834640"/>
            <a:ext cx="45720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2834640"/>
            <a:ext cx="109728" cy="960120"/>
          </a:xfrm>
          <a:prstGeom prst="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2926080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B13A3A"/>
                </a:solidFill>
                <a:latin typeface="Calibri"/>
              </a:rPr>
              <a:t>Bear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B6677"/>
                </a:solidFill>
                <a:latin typeface="Calibri"/>
              </a:rPr>
              <a:t>save 12% · $35 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926080"/>
            <a:ext cx="2286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B13A3A"/>
                </a:solidFill>
                <a:latin typeface="Calibri"/>
              </a:rPr>
              <a:t>$-36,379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B6677"/>
                </a:solidFill>
                <a:latin typeface="Calibri"/>
              </a:rPr>
              <a:t>ROI 0.8x · ~211 saved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886200"/>
            <a:ext cx="45720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3886200"/>
            <a:ext cx="109728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977640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Base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B6677"/>
                </a:solidFill>
                <a:latin typeface="Calibri"/>
              </a:rPr>
              <a:t>save 20% · $30 offer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977640"/>
            <a:ext cx="2286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41B2E"/>
                </a:solidFill>
                <a:latin typeface="Calibri"/>
              </a:rPr>
              <a:t>$189,190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B6677"/>
                </a:solidFill>
                <a:latin typeface="Calibri"/>
              </a:rPr>
              <a:t>ROI 2.4x · ~351 saved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937760"/>
            <a:ext cx="457200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4937760"/>
            <a:ext cx="109728" cy="960120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5029200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28A86"/>
                </a:solidFill>
                <a:latin typeface="Calibri"/>
              </a:rPr>
              <a:t>Bull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B6677"/>
                </a:solidFill>
                <a:latin typeface="Calibri"/>
              </a:rPr>
              <a:t>save 28% · $25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029200"/>
            <a:ext cx="2286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41B2E"/>
                </a:solidFill>
                <a:latin typeface="Calibri"/>
              </a:rPr>
              <a:t>$493,383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B6677"/>
                </a:solidFill>
                <a:latin typeface="Calibri"/>
              </a:rPr>
              <a:t>ROI 6.1x · ~492 saved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9FD8D6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Operationalize the model — and prove it with a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56231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Deploy value-ranked scoring.  </a:t>
            </a:r>
            <a:r>
              <a:rPr sz="1400" b="0">
                <a:solidFill>
                  <a:srgbClr val="C8D2E0"/>
                </a:solidFill>
                <a:latin typeface="Calibri"/>
              </a:rPr>
              <a:t>Score the base monthly; route the profit-optimal top 42% by value-at-risk to retention.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42615"/>
            <a:ext cx="457200" cy="457200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4261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24327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Trigger device-age offers.  </a:t>
            </a:r>
            <a:r>
              <a:rPr sz="1400" b="0">
                <a:solidFill>
                  <a:srgbClr val="C8D2E0"/>
                </a:solidFill>
                <a:latin typeface="Calibri"/>
              </a:rPr>
              <a:t>Automate upgrade offers as handsets cross the high-risk age band — the #1 SHAP driver.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10711"/>
            <a:ext cx="457200" cy="457200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10711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92423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Fix service friction.  </a:t>
            </a:r>
            <a:r>
              <a:rPr sz="1400" b="0">
                <a:solidFill>
                  <a:srgbClr val="C8D2E0"/>
                </a:solidFill>
                <a:latin typeface="Calibri"/>
              </a:rPr>
              <a:t>Feed dropped-call and care-intensity signals to network and support ops as leading indicators.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78807"/>
            <a:ext cx="457200" cy="457200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78807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60519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Run an A/B retention test.  </a:t>
            </a:r>
            <a:r>
              <a:rPr sz="1400" b="0">
                <a:solidFill>
                  <a:srgbClr val="C8D2E0"/>
                </a:solidFill>
                <a:latin typeface="Calibri"/>
              </a:rPr>
              <a:t>Randomized treatment/control to measure REAL uplift and replace the simulated persuadables figures.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46903"/>
            <a:ext cx="457200" cy="457200"/>
          </a:xfrm>
          <a:prstGeom prst="rect">
            <a:avLst/>
          </a:prstGeom>
          <a:solidFill>
            <a:srgbClr val="12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46903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928615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Re-validate assumptions.  </a:t>
            </a:r>
            <a:r>
              <a:rPr sz="1400" b="0">
                <a:solidFill>
                  <a:srgbClr val="C8D2E0"/>
                </a:solidFill>
                <a:latin typeface="Calibri"/>
              </a:rPr>
              <a:t>Confirm save rate, offer cost, margin, and CLV with finance; refresh the bear/base/bull case quarterly.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9FD8D6"/>
                </a:solidFill>
                <a:latin typeface="Calibri"/>
              </a:rPr>
              <a:t>Reproducible: </a:t>
            </a:r>
            <a:r>
              <a:rPr sz="1200" b="0">
                <a:solidFill>
                  <a:srgbClr val="B9C4D4"/>
                </a:solidFill>
                <a:latin typeface="Calibri"/>
              </a:rPr>
              <a:t>churn_analysis.ipynb regenerates every figure and number from the raw CSVs; assumptions cited in REFERENCES.md.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